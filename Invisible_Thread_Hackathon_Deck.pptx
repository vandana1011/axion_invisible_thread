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f48c7ba-415c-dc1b-c366-115b4da2510c}">
          <p14:sldIdLst>
            <p14:sldId id="256"/>
          </p14:sldIdLst>
        </p14:section>
        <p14:section name="Concept" id="{31bd0479-0b8e-9f69-81ec-952be07ac0ca}">
          <p14:sldIdLst>
            <p14:sldId id="257"/>
            <p14:sldId id="258"/>
          </p14:sldIdLst>
        </p14:section>
        <p14:section name="Build" id="{18c70563-d928-4295-5fe0-0ced29047922}">
          <p14:sldIdLst>
            <p14:sldId id="259"/>
            <p14:sldId id="260"/>
            <p14:sldId id="261"/>
          </p14:sldIdLst>
        </p14:section>
        <p14:section name="Close" id="{b964aa76-cf20-a41e-b201-0989c00811b8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idea: when something breaks in one place, the effects travel along connections nobody sees. Invisible Thread makes those connections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plainly. One facility becomes unavailable - what is around it? That question is hard to answer from a static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actions: select, set a radius, see what is nearby. Our current scenario is healthcare infrastructure across Andhra Pradesh.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 left to right. The key moment is step four: the Python/FastAPI backend does the radius search and returns the facilities in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features. If you only have time for two, demo the disruption simulator and the alternative route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lightweight stack: plain web frontend, a FastAPI backend for the radius logic, Pandas for data handling, and OpenStreetMap as the open data source. The live site has five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appreciate clear scope. Proximity does not confirm dependency, and we say so openly.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scope follows directly from the limits: better data, real road travel times, and broader applications beyond healthcare.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tagline, point to the live demo,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6400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xioninvisiblethread-web.vercel.app/" TargetMode="External"/><Relationship Id="rId2" Type="http://schemas.openxmlformats.org/officeDocument/2006/relationships/hyperlink" Target="https://github.com/Vandana1011/Axion_Invisible_Thread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Invisible Thread</a:t>
            </a:r>
            <a:endParaRPr lang="en-US" sz="6000" dirty="0"/>
          </a:p>
        </p:txBody>
      </p:sp>
      <p:sp>
        <p:nvSpPr>
          <p:cNvPr id="3" name="Tagline"/>
          <p:cNvSpPr txBox="1"/>
          <p:nvPr/>
        </p:nvSpPr>
        <p:spPr>
          <a:xfrm>
            <a:off x="731520" y="3474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5"/>
                </a:solidFill>
              </a:rPr>
              <a:t>Revealing hidden connections behind real-world disruptions</a:t>
            </a:r>
            <a:endParaRPr lang="en-US" sz="2200" dirty="0"/>
          </a:p>
        </p:txBody>
      </p:sp>
      <p:sp>
        <p:nvSpPr>
          <p:cNvPr id="4" name="Hackathon"/>
          <p:cNvSpPr txBox="1"/>
          <p:nvPr/>
        </p:nvSpPr>
        <p:spPr>
          <a:xfrm>
            <a:off x="731520" y="4846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AXION STAMPERS — Round 2</a:t>
            </a:r>
            <a:endParaRPr lang="en-US" sz="1600" dirty="0"/>
          </a:p>
        </p:txBody>
      </p:sp>
      <p:sp>
        <p:nvSpPr>
          <p:cNvPr id="5" name="Team"/>
          <p:cNvSpPr txBox="1"/>
          <p:nvPr/>
        </p:nvSpPr>
        <p:spPr>
          <a:xfrm>
            <a:off x="731520" y="5257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Team TeamPixelMind</a:t>
            </a:r>
            <a:endParaRPr lang="en-US" sz="1600" dirty="0"/>
          </a:p>
        </p:txBody>
      </p:sp>
      <p:sp>
        <p:nvSpPr>
          <p:cNvPr id="6" name="Edge 0"/>
          <p:cNvSpPr/>
          <p:nvPr/>
        </p:nvSpPr>
        <p:spPr>
          <a:xfrm flipV="1">
            <a:off x="7315200" y="1463040"/>
            <a:ext cx="1188720" cy="10972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Edge 1"/>
          <p:cNvSpPr/>
          <p:nvPr/>
        </p:nvSpPr>
        <p:spPr>
          <a:xfrm>
            <a:off x="8503920" y="1463040"/>
            <a:ext cx="1005840" cy="1463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Edge 2"/>
          <p:cNvSpPr/>
          <p:nvPr/>
        </p:nvSpPr>
        <p:spPr>
          <a:xfrm flipV="1">
            <a:off x="9509760" y="1828800"/>
            <a:ext cx="1188720" cy="10972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Edge 3"/>
          <p:cNvSpPr/>
          <p:nvPr/>
        </p:nvSpPr>
        <p:spPr>
          <a:xfrm>
            <a:off x="9509760" y="2926080"/>
            <a:ext cx="822960" cy="10972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Edge 4"/>
          <p:cNvSpPr/>
          <p:nvPr/>
        </p:nvSpPr>
        <p:spPr>
          <a:xfrm flipV="1">
            <a:off x="8686800" y="2926080"/>
            <a:ext cx="822960" cy="12801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Edge 5"/>
          <p:cNvSpPr/>
          <p:nvPr/>
        </p:nvSpPr>
        <p:spPr>
          <a:xfrm flipV="1">
            <a:off x="7498080" y="4206240"/>
            <a:ext cx="1188720" cy="8229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2" name="Edge 6"/>
          <p:cNvSpPr/>
          <p:nvPr/>
        </p:nvSpPr>
        <p:spPr>
          <a:xfrm>
            <a:off x="10698480" y="1828800"/>
            <a:ext cx="1005840" cy="11887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Edge 7"/>
          <p:cNvSpPr/>
          <p:nvPr/>
        </p:nvSpPr>
        <p:spPr>
          <a:xfrm flipV="1">
            <a:off x="10332720" y="3017520"/>
            <a:ext cx="1371600" cy="10058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Edge 8"/>
          <p:cNvSpPr/>
          <p:nvPr/>
        </p:nvSpPr>
        <p:spPr>
          <a:xfrm>
            <a:off x="7315200" y="2560320"/>
            <a:ext cx="1371600" cy="16459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5" name="Edge 9"/>
          <p:cNvSpPr/>
          <p:nvPr/>
        </p:nvSpPr>
        <p:spPr>
          <a:xfrm>
            <a:off x="8503920" y="1463040"/>
            <a:ext cx="219456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6" name="Node 0"/>
          <p:cNvSpPr/>
          <p:nvPr/>
        </p:nvSpPr>
        <p:spPr>
          <a:xfrm>
            <a:off x="7159752" y="24048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Node 1"/>
          <p:cNvSpPr/>
          <p:nvPr/>
        </p:nvSpPr>
        <p:spPr>
          <a:xfrm>
            <a:off x="8348472" y="1307592"/>
            <a:ext cx="310896" cy="310896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Node 2"/>
          <p:cNvSpPr/>
          <p:nvPr/>
        </p:nvSpPr>
        <p:spPr>
          <a:xfrm>
            <a:off x="9253728" y="2670048"/>
            <a:ext cx="512064" cy="51206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Node 3"/>
          <p:cNvSpPr/>
          <p:nvPr/>
        </p:nvSpPr>
        <p:spPr>
          <a:xfrm>
            <a:off x="10543032" y="167335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Node 4"/>
          <p:cNvSpPr/>
          <p:nvPr/>
        </p:nvSpPr>
        <p:spPr>
          <a:xfrm>
            <a:off x="10177272" y="3867912"/>
            <a:ext cx="310896" cy="310896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1" name="Node 5"/>
          <p:cNvSpPr/>
          <p:nvPr/>
        </p:nvSpPr>
        <p:spPr>
          <a:xfrm>
            <a:off x="8531352" y="4050792"/>
            <a:ext cx="310896" cy="31089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Node 6"/>
          <p:cNvSpPr/>
          <p:nvPr/>
        </p:nvSpPr>
        <p:spPr>
          <a:xfrm>
            <a:off x="7342632" y="487375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Node 7"/>
          <p:cNvSpPr/>
          <p:nvPr/>
        </p:nvSpPr>
        <p:spPr>
          <a:xfrm>
            <a:off x="11548872" y="2862072"/>
            <a:ext cx="310896" cy="310896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When one facility fails, who is nearby?</a:t>
            </a:r>
            <a:endParaRPr lang="en-US" sz="3400" dirty="0"/>
          </a:p>
        </p:txBody>
      </p:sp>
      <p:sp>
        <p:nvSpPr>
          <p:cNvPr id="3" name="Problem label"/>
          <p:cNvSpPr txBox="1"/>
          <p:nvPr/>
        </p:nvSpPr>
        <p:spPr>
          <a:xfrm>
            <a:off x="64008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4" name="Problem text"/>
          <p:cNvSpPr txBox="1"/>
          <p:nvPr/>
        </p:nvSpPr>
        <p:spPr>
          <a:xfrm>
            <a:off x="640080" y="21945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When a facility becomes unavailable, it is hard to see which alternatives sit nearby and how far the geographical impact spreads.</a:t>
            </a:r>
            <a:endParaRPr lang="en-US" sz="2000" dirty="0"/>
          </a:p>
        </p:txBody>
      </p:sp>
      <p:sp>
        <p:nvSpPr>
          <p:cNvPr id="5" name="Problem support"/>
          <p:cNvSpPr txBox="1"/>
          <p:nvPr/>
        </p:nvSpPr>
        <p:spPr>
          <a:xfrm>
            <a:off x="640080" y="39319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Planners and communities are left guessing at connections that are not visible on a standard map.</a:t>
            </a:r>
            <a:endParaRPr lang="en-US" sz="1600" dirty="0"/>
          </a:p>
        </p:txBody>
      </p:sp>
      <p:sp>
        <p:nvSpPr>
          <p:cNvPr id="6" name="Callout card"/>
          <p:cNvSpPr/>
          <p:nvPr/>
        </p:nvSpPr>
        <p:spPr>
          <a:xfrm>
            <a:off x="7040880" y="1737360"/>
            <a:ext cx="4480560" cy="3840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Callout stat"/>
          <p:cNvSpPr txBox="1"/>
          <p:nvPr/>
        </p:nvSpPr>
        <p:spPr>
          <a:xfrm>
            <a:off x="7040880" y="21945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1  →  ?</a:t>
            </a:r>
            <a:endParaRPr lang="en-US" sz="7200" dirty="0"/>
          </a:p>
        </p:txBody>
      </p:sp>
      <p:sp>
        <p:nvSpPr>
          <p:cNvPr id="8" name="Callout caption"/>
          <p:cNvSpPr txBox="1"/>
          <p:nvPr/>
        </p:nvSpPr>
        <p:spPr>
          <a:xfrm>
            <a:off x="7406640" y="39319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one facility goes down — how many alternatives are within reach?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Explore the map. Simulate the disruption.</a:t>
            </a:r>
            <a:endParaRPr lang="en-US" sz="3400" dirty="0"/>
          </a:p>
        </p:txBody>
      </p:sp>
      <p:sp>
        <p:nvSpPr>
          <p:cNvPr id="3" name="Solution intro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An interactive platform that turns geographical relationships into something you can see and test.</a:t>
            </a:r>
            <a:endParaRPr lang="en-US" sz="1800" dirty="0"/>
          </a:p>
        </p:txBody>
      </p:sp>
      <p:sp>
        <p:nvSpPr>
          <p:cNvPr id="4" name="Solution card 1"/>
          <p:cNvSpPr/>
          <p:nvPr/>
        </p:nvSpPr>
        <p:spPr>
          <a:xfrm>
            <a:off x="640080" y="2377440"/>
            <a:ext cx="347472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Badge 1"/>
          <p:cNvSpPr/>
          <p:nvPr/>
        </p:nvSpPr>
        <p:spPr>
          <a:xfrm>
            <a:off x="1005840" y="2697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 number 1"/>
          <p:cNvSpPr txBox="1"/>
          <p:nvPr/>
        </p:nvSpPr>
        <p:spPr>
          <a:xfrm>
            <a:off x="10058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olution head 1"/>
          <p:cNvSpPr txBox="1"/>
          <p:nvPr/>
        </p:nvSpPr>
        <p:spPr>
          <a:xfrm>
            <a:off x="10058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Select a location</a:t>
            </a:r>
            <a:endParaRPr lang="en-US" sz="2200" dirty="0"/>
          </a:p>
        </p:txBody>
      </p:sp>
      <p:sp>
        <p:nvSpPr>
          <p:cNvPr id="8" name="Solution body 1"/>
          <p:cNvSpPr txBox="1"/>
          <p:nvPr/>
        </p:nvSpPr>
        <p:spPr>
          <a:xfrm>
            <a:off x="1005840" y="4114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Pick any mapped hospital or pharmacy as the point of disruption.</a:t>
            </a:r>
            <a:endParaRPr lang="en-US" sz="1600" dirty="0"/>
          </a:p>
        </p:txBody>
      </p:sp>
      <p:sp>
        <p:nvSpPr>
          <p:cNvPr id="9" name="Solution card 2"/>
          <p:cNvSpPr/>
          <p:nvPr/>
        </p:nvSpPr>
        <p:spPr>
          <a:xfrm>
            <a:off x="4389120" y="2377440"/>
            <a:ext cx="347472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 2"/>
          <p:cNvSpPr/>
          <p:nvPr/>
        </p:nvSpPr>
        <p:spPr>
          <a:xfrm>
            <a:off x="4754880" y="2697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 number 2"/>
          <p:cNvSpPr txBox="1"/>
          <p:nvPr/>
        </p:nvSpPr>
        <p:spPr>
          <a:xfrm>
            <a:off x="47548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olution head 2"/>
          <p:cNvSpPr txBox="1"/>
          <p:nvPr/>
        </p:nvSpPr>
        <p:spPr>
          <a:xfrm>
            <a:off x="475488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Define a radius</a:t>
            </a:r>
            <a:endParaRPr lang="en-US" sz="2200" dirty="0"/>
          </a:p>
        </p:txBody>
      </p:sp>
      <p:sp>
        <p:nvSpPr>
          <p:cNvPr id="13" name="Solution body 2"/>
          <p:cNvSpPr txBox="1"/>
          <p:nvPr/>
        </p:nvSpPr>
        <p:spPr>
          <a:xfrm>
            <a:off x="4754880" y="4114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Choose how far to look around the selected facility.</a:t>
            </a:r>
            <a:endParaRPr lang="en-US" sz="1600" dirty="0"/>
          </a:p>
        </p:txBody>
      </p:sp>
      <p:sp>
        <p:nvSpPr>
          <p:cNvPr id="14" name="Solution card 3"/>
          <p:cNvSpPr/>
          <p:nvPr/>
        </p:nvSpPr>
        <p:spPr>
          <a:xfrm>
            <a:off x="8138160" y="2377440"/>
            <a:ext cx="347472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Badge 3"/>
          <p:cNvSpPr/>
          <p:nvPr/>
        </p:nvSpPr>
        <p:spPr>
          <a:xfrm>
            <a:off x="8503920" y="2697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 number 3"/>
          <p:cNvSpPr txBox="1"/>
          <p:nvPr/>
        </p:nvSpPr>
        <p:spPr>
          <a:xfrm>
            <a:off x="850392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olution head 3"/>
          <p:cNvSpPr txBox="1"/>
          <p:nvPr/>
        </p:nvSpPr>
        <p:spPr>
          <a:xfrm>
            <a:off x="850392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See the alternatives</a:t>
            </a:r>
            <a:endParaRPr lang="en-US" sz="2200" dirty="0"/>
          </a:p>
        </p:txBody>
      </p:sp>
      <p:sp>
        <p:nvSpPr>
          <p:cNvPr id="18" name="Solution body 3"/>
          <p:cNvSpPr txBox="1"/>
          <p:nvPr/>
        </p:nvSpPr>
        <p:spPr>
          <a:xfrm>
            <a:off x="8503920" y="4114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View other mapped facilities inside that area and investigate further.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3" name="Flow line"/>
          <p:cNvSpPr/>
          <p:nvPr/>
        </p:nvSpPr>
        <p:spPr>
          <a:xfrm>
            <a:off x="1188720" y="2926080"/>
            <a:ext cx="97840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82296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 1"/>
          <p:cNvSpPr txBox="1"/>
          <p:nvPr/>
        </p:nvSpPr>
        <p:spPr>
          <a:xfrm>
            <a:off x="82296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label 1"/>
          <p:cNvSpPr txBox="1"/>
          <p:nvPr/>
        </p:nvSpPr>
        <p:spPr>
          <a:xfrm>
            <a:off x="18288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Explore mapped facilities</a:t>
            </a:r>
            <a:endParaRPr lang="en-US" sz="1600" dirty="0"/>
          </a:p>
        </p:txBody>
      </p:sp>
      <p:sp>
        <p:nvSpPr>
          <p:cNvPr id="7" name="Badge 2"/>
          <p:cNvSpPr/>
          <p:nvPr/>
        </p:nvSpPr>
        <p:spPr>
          <a:xfrm>
            <a:off x="326898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 number 2"/>
          <p:cNvSpPr txBox="1"/>
          <p:nvPr/>
        </p:nvSpPr>
        <p:spPr>
          <a:xfrm>
            <a:off x="32689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label 2"/>
          <p:cNvSpPr txBox="1"/>
          <p:nvPr/>
        </p:nvSpPr>
        <p:spPr>
          <a:xfrm>
            <a:off x="262890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Select a facility to disrupt</a:t>
            </a:r>
            <a:endParaRPr lang="en-US" sz="1600" dirty="0"/>
          </a:p>
        </p:txBody>
      </p:sp>
      <p:sp>
        <p:nvSpPr>
          <p:cNvPr id="10" name="Badge 3"/>
          <p:cNvSpPr/>
          <p:nvPr/>
        </p:nvSpPr>
        <p:spPr>
          <a:xfrm>
            <a:off x="571500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 number 3"/>
          <p:cNvSpPr txBox="1"/>
          <p:nvPr/>
        </p:nvSpPr>
        <p:spPr>
          <a:xfrm>
            <a:off x="57150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tep label 3"/>
          <p:cNvSpPr txBox="1"/>
          <p:nvPr/>
        </p:nvSpPr>
        <p:spPr>
          <a:xfrm>
            <a:off x="507492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Choose a search radius</a:t>
            </a:r>
            <a:endParaRPr lang="en-US" sz="1600" dirty="0"/>
          </a:p>
        </p:txBody>
      </p:sp>
      <p:sp>
        <p:nvSpPr>
          <p:cNvPr id="13" name="Badge 4"/>
          <p:cNvSpPr/>
          <p:nvPr/>
        </p:nvSpPr>
        <p:spPr>
          <a:xfrm>
            <a:off x="8161020" y="25603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 number 4"/>
          <p:cNvSpPr txBox="1"/>
          <p:nvPr/>
        </p:nvSpPr>
        <p:spPr>
          <a:xfrm>
            <a:off x="81610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tep label 4"/>
          <p:cNvSpPr txBox="1"/>
          <p:nvPr/>
        </p:nvSpPr>
        <p:spPr>
          <a:xfrm>
            <a:off x="752094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Backend finds facilities in range</a:t>
            </a:r>
            <a:endParaRPr lang="en-US" sz="1600" dirty="0"/>
          </a:p>
        </p:txBody>
      </p:sp>
      <p:sp>
        <p:nvSpPr>
          <p:cNvPr id="16" name="Badge 5"/>
          <p:cNvSpPr/>
          <p:nvPr/>
        </p:nvSpPr>
        <p:spPr>
          <a:xfrm>
            <a:off x="1060704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 number 5"/>
          <p:cNvSpPr txBox="1"/>
          <p:nvPr/>
        </p:nvSpPr>
        <p:spPr>
          <a:xfrm>
            <a:off x="106070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Step label 5"/>
          <p:cNvSpPr txBox="1"/>
          <p:nvPr/>
        </p:nvSpPr>
        <p:spPr>
          <a:xfrm>
            <a:off x="996696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View potential alternatives</a:t>
            </a:r>
            <a:endParaRPr lang="en-US" sz="1600" dirty="0"/>
          </a:p>
        </p:txBody>
      </p:sp>
      <p:sp>
        <p:nvSpPr>
          <p:cNvPr id="19" name="Scenario bar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cenario text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Current scenario: hospitals and pharmacies across Andhra Pradesh, powered by a FastAPI backend.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features</a:t>
            </a:r>
            <a:endParaRPr lang="en-US" sz="3400" dirty="0"/>
          </a:p>
        </p:txBody>
      </p:sp>
      <p:sp>
        <p:nvSpPr>
          <p:cNvPr id="3" name="Feature card 1"/>
          <p:cNvSpPr/>
          <p:nvPr/>
        </p:nvSpPr>
        <p:spPr>
          <a:xfrm>
            <a:off x="640080" y="1554480"/>
            <a:ext cx="3474720" cy="2057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eature dot 1"/>
          <p:cNvSpPr/>
          <p:nvPr/>
        </p:nvSpPr>
        <p:spPr>
          <a:xfrm>
            <a:off x="960120" y="1874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eature head 1"/>
          <p:cNvSpPr txBox="1"/>
          <p:nvPr/>
        </p:nvSpPr>
        <p:spPr>
          <a:xfrm>
            <a:off x="960120" y="2377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Interactive mapping</a:t>
            </a:r>
            <a:endParaRPr lang="en-US" sz="2000" dirty="0"/>
          </a:p>
        </p:txBody>
      </p:sp>
      <p:sp>
        <p:nvSpPr>
          <p:cNvPr id="6" name="Feature body 1"/>
          <p:cNvSpPr txBox="1"/>
          <p:nvPr/>
        </p:nvSpPr>
        <p:spPr>
          <a:xfrm>
            <a:off x="960120" y="2834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Explore mapped healthcare facilities and locations.</a:t>
            </a:r>
            <a:endParaRPr lang="en-US" sz="1400" dirty="0"/>
          </a:p>
        </p:txBody>
      </p:sp>
      <p:sp>
        <p:nvSpPr>
          <p:cNvPr id="7" name="Feature card 2"/>
          <p:cNvSpPr/>
          <p:nvPr/>
        </p:nvSpPr>
        <p:spPr>
          <a:xfrm>
            <a:off x="4389120" y="1554480"/>
            <a:ext cx="3474720" cy="2057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Feature dot 2"/>
          <p:cNvSpPr/>
          <p:nvPr/>
        </p:nvSpPr>
        <p:spPr>
          <a:xfrm>
            <a:off x="4709160" y="18745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eature head 2"/>
          <p:cNvSpPr txBox="1"/>
          <p:nvPr/>
        </p:nvSpPr>
        <p:spPr>
          <a:xfrm>
            <a:off x="4709160" y="2377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Disruption simulator</a:t>
            </a:r>
            <a:endParaRPr lang="en-US" sz="2000" dirty="0"/>
          </a:p>
        </p:txBody>
      </p:sp>
      <p:sp>
        <p:nvSpPr>
          <p:cNvPr id="10" name="Feature body 2"/>
          <p:cNvSpPr txBox="1"/>
          <p:nvPr/>
        </p:nvSpPr>
        <p:spPr>
          <a:xfrm>
            <a:off x="4709160" y="2834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Create hypothetical scenarios and examine their consequences.</a:t>
            </a:r>
            <a:endParaRPr lang="en-US" sz="1400" dirty="0"/>
          </a:p>
        </p:txBody>
      </p:sp>
      <p:sp>
        <p:nvSpPr>
          <p:cNvPr id="11" name="Feature card 3"/>
          <p:cNvSpPr/>
          <p:nvPr/>
        </p:nvSpPr>
        <p:spPr>
          <a:xfrm>
            <a:off x="8138160" y="1554480"/>
            <a:ext cx="3474720" cy="2057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Feature dot 3"/>
          <p:cNvSpPr/>
          <p:nvPr/>
        </p:nvSpPr>
        <p:spPr>
          <a:xfrm>
            <a:off x="8458200" y="187452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Feature head 3"/>
          <p:cNvSpPr txBox="1"/>
          <p:nvPr/>
        </p:nvSpPr>
        <p:spPr>
          <a:xfrm>
            <a:off x="8458200" y="2377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Alternative routes</a:t>
            </a:r>
            <a:endParaRPr lang="en-US" sz="2000" dirty="0"/>
          </a:p>
        </p:txBody>
      </p:sp>
      <p:sp>
        <p:nvSpPr>
          <p:cNvPr id="14" name="Feature body 3"/>
          <p:cNvSpPr txBox="1"/>
          <p:nvPr/>
        </p:nvSpPr>
        <p:spPr>
          <a:xfrm>
            <a:off x="8458200" y="2834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View alternative road routes from a selected starting point.</a:t>
            </a:r>
            <a:endParaRPr lang="en-US" sz="1400" dirty="0"/>
          </a:p>
        </p:txBody>
      </p:sp>
      <p:sp>
        <p:nvSpPr>
          <p:cNvPr id="15" name="Feature card 4"/>
          <p:cNvSpPr/>
          <p:nvPr/>
        </p:nvSpPr>
        <p:spPr>
          <a:xfrm>
            <a:off x="640080" y="3886200"/>
            <a:ext cx="3474720" cy="2057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Feature dot 4"/>
          <p:cNvSpPr/>
          <p:nvPr/>
        </p:nvSpPr>
        <p:spPr>
          <a:xfrm>
            <a:off x="960120" y="420624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Feature head 4"/>
          <p:cNvSpPr txBox="1"/>
          <p:nvPr/>
        </p:nvSpPr>
        <p:spPr>
          <a:xfrm>
            <a:off x="960120" y="4709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Accessibility exploration</a:t>
            </a:r>
            <a:endParaRPr lang="en-US" sz="2000" dirty="0"/>
          </a:p>
        </p:txBody>
      </p:sp>
      <p:sp>
        <p:nvSpPr>
          <p:cNvPr id="18" name="Feature body 4"/>
          <p:cNvSpPr txBox="1"/>
          <p:nvPr/>
        </p:nvSpPr>
        <p:spPr>
          <a:xfrm>
            <a:off x="960120" y="5166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Spot nearby facilities worth investigating as alternatives.</a:t>
            </a:r>
            <a:endParaRPr lang="en-US" sz="1400" dirty="0"/>
          </a:p>
        </p:txBody>
      </p:sp>
      <p:sp>
        <p:nvSpPr>
          <p:cNvPr id="19" name="Feature card 5"/>
          <p:cNvSpPr/>
          <p:nvPr/>
        </p:nvSpPr>
        <p:spPr>
          <a:xfrm>
            <a:off x="4389120" y="3886200"/>
            <a:ext cx="3474720" cy="2057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Feature dot 5"/>
          <p:cNvSpPr/>
          <p:nvPr/>
        </p:nvSpPr>
        <p:spPr>
          <a:xfrm>
            <a:off x="4709160" y="4206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Feature head 5"/>
          <p:cNvSpPr txBox="1"/>
          <p:nvPr/>
        </p:nvSpPr>
        <p:spPr>
          <a:xfrm>
            <a:off x="4709160" y="4709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Connection explorer</a:t>
            </a:r>
            <a:endParaRPr lang="en-US" sz="2000" dirty="0"/>
          </a:p>
        </p:txBody>
      </p:sp>
      <p:sp>
        <p:nvSpPr>
          <p:cNvPr id="22" name="Feature body 5"/>
          <p:cNvSpPr txBox="1"/>
          <p:nvPr/>
        </p:nvSpPr>
        <p:spPr>
          <a:xfrm>
            <a:off x="4709160" y="5166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Examine links between a disruption, nearby facilities and connected services.</a:t>
            </a:r>
            <a:endParaRPr lang="en-US" sz="1400" dirty="0"/>
          </a:p>
        </p:txBody>
      </p:sp>
      <p:sp>
        <p:nvSpPr>
          <p:cNvPr id="23" name="Feature card 6"/>
          <p:cNvSpPr/>
          <p:nvPr/>
        </p:nvSpPr>
        <p:spPr>
          <a:xfrm>
            <a:off x="8138160" y="3886200"/>
            <a:ext cx="3474720" cy="2057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Feature dot 6"/>
          <p:cNvSpPr/>
          <p:nvPr/>
        </p:nvSpPr>
        <p:spPr>
          <a:xfrm>
            <a:off x="8458200" y="42062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eature head 6"/>
          <p:cNvSpPr txBox="1"/>
          <p:nvPr/>
        </p:nvSpPr>
        <p:spPr>
          <a:xfrm>
            <a:off x="8458200" y="4709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Scenario insights</a:t>
            </a:r>
            <a:endParaRPr lang="en-US" sz="2000" dirty="0"/>
          </a:p>
        </p:txBody>
      </p:sp>
      <p:sp>
        <p:nvSpPr>
          <p:cNvPr id="26" name="Feature body 6"/>
          <p:cNvSpPr txBox="1"/>
          <p:nvPr/>
        </p:nvSpPr>
        <p:spPr>
          <a:xfrm>
            <a:off x="8458200" y="5166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Review summaries and comparisons to guide further investigation.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3" name="Stack card 1"/>
          <p:cNvSpPr/>
          <p:nvPr/>
        </p:nvSpPr>
        <p:spPr>
          <a:xfrm>
            <a:off x="640080" y="1828800"/>
            <a:ext cx="201168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ack dot 1"/>
          <p:cNvSpPr/>
          <p:nvPr/>
        </p:nvSpPr>
        <p:spPr>
          <a:xfrm>
            <a:off x="914400" y="21031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tack head 1"/>
          <p:cNvSpPr txBox="1"/>
          <p:nvPr/>
        </p:nvSpPr>
        <p:spPr>
          <a:xfrm>
            <a:off x="91440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Frontend</a:t>
            </a:r>
            <a:endParaRPr lang="en-US" sz="1800" dirty="0"/>
          </a:p>
        </p:txBody>
      </p:sp>
      <p:sp>
        <p:nvSpPr>
          <p:cNvPr id="6" name="Stack body 1"/>
          <p:cNvSpPr txBox="1"/>
          <p:nvPr/>
        </p:nvSpPr>
        <p:spPr>
          <a:xfrm>
            <a:off x="914400" y="3474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HTML, CSS, JavaScript</a:t>
            </a:r>
            <a:endParaRPr lang="en-US" sz="1600" dirty="0"/>
          </a:p>
        </p:txBody>
      </p:sp>
      <p:sp>
        <p:nvSpPr>
          <p:cNvPr id="7" name="Stack card 2"/>
          <p:cNvSpPr/>
          <p:nvPr/>
        </p:nvSpPr>
        <p:spPr>
          <a:xfrm>
            <a:off x="2834640" y="1828800"/>
            <a:ext cx="201168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ack dot 2"/>
          <p:cNvSpPr/>
          <p:nvPr/>
        </p:nvSpPr>
        <p:spPr>
          <a:xfrm>
            <a:off x="3108960" y="2103120"/>
            <a:ext cx="320040" cy="320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tack head 2"/>
          <p:cNvSpPr txBox="1"/>
          <p:nvPr/>
        </p:nvSpPr>
        <p:spPr>
          <a:xfrm>
            <a:off x="310896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Backend</a:t>
            </a:r>
            <a:endParaRPr lang="en-US" sz="1800" dirty="0"/>
          </a:p>
        </p:txBody>
      </p:sp>
      <p:sp>
        <p:nvSpPr>
          <p:cNvPr id="10" name="Stack body 2"/>
          <p:cNvSpPr txBox="1"/>
          <p:nvPr/>
        </p:nvSpPr>
        <p:spPr>
          <a:xfrm>
            <a:off x="3108960" y="3474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Python, FastAPI</a:t>
            </a:r>
            <a:endParaRPr lang="en-US" sz="1600" dirty="0"/>
          </a:p>
        </p:txBody>
      </p:sp>
      <p:sp>
        <p:nvSpPr>
          <p:cNvPr id="11" name="Stack card 3"/>
          <p:cNvSpPr/>
          <p:nvPr/>
        </p:nvSpPr>
        <p:spPr>
          <a:xfrm>
            <a:off x="5029200" y="1828800"/>
            <a:ext cx="201168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tack dot 3"/>
          <p:cNvSpPr/>
          <p:nvPr/>
        </p:nvSpPr>
        <p:spPr>
          <a:xfrm>
            <a:off x="5303520" y="2103120"/>
            <a:ext cx="320040" cy="3200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Stack head 3"/>
          <p:cNvSpPr txBox="1"/>
          <p:nvPr/>
        </p:nvSpPr>
        <p:spPr>
          <a:xfrm>
            <a:off x="530352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Data processing</a:t>
            </a:r>
            <a:endParaRPr lang="en-US" sz="1800" dirty="0"/>
          </a:p>
        </p:txBody>
      </p:sp>
      <p:sp>
        <p:nvSpPr>
          <p:cNvPr id="14" name="Stack body 3"/>
          <p:cNvSpPr txBox="1"/>
          <p:nvPr/>
        </p:nvSpPr>
        <p:spPr>
          <a:xfrm>
            <a:off x="5303520" y="3474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Pandas</a:t>
            </a:r>
            <a:endParaRPr lang="en-US" sz="1600" dirty="0"/>
          </a:p>
        </p:txBody>
      </p:sp>
      <p:sp>
        <p:nvSpPr>
          <p:cNvPr id="15" name="Stack card 4"/>
          <p:cNvSpPr/>
          <p:nvPr/>
        </p:nvSpPr>
        <p:spPr>
          <a:xfrm>
            <a:off x="7223760" y="1828800"/>
            <a:ext cx="201168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ack dot 4"/>
          <p:cNvSpPr/>
          <p:nvPr/>
        </p:nvSpPr>
        <p:spPr>
          <a:xfrm>
            <a:off x="7498080" y="2103120"/>
            <a:ext cx="320040" cy="3200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Stack head 4"/>
          <p:cNvSpPr txBox="1"/>
          <p:nvPr/>
        </p:nvSpPr>
        <p:spPr>
          <a:xfrm>
            <a:off x="749808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Data formats</a:t>
            </a:r>
            <a:endParaRPr lang="en-US" sz="1800" dirty="0"/>
          </a:p>
        </p:txBody>
      </p:sp>
      <p:sp>
        <p:nvSpPr>
          <p:cNvPr id="18" name="Stack body 4"/>
          <p:cNvSpPr txBox="1"/>
          <p:nvPr/>
        </p:nvSpPr>
        <p:spPr>
          <a:xfrm>
            <a:off x="7498080" y="3474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CSV, GeoJSON, JSON</a:t>
            </a:r>
            <a:endParaRPr lang="en-US" sz="1600" dirty="0"/>
          </a:p>
        </p:txBody>
      </p:sp>
      <p:sp>
        <p:nvSpPr>
          <p:cNvPr id="19" name="Stack card 5"/>
          <p:cNvSpPr/>
          <p:nvPr/>
        </p:nvSpPr>
        <p:spPr>
          <a:xfrm>
            <a:off x="9418320" y="1828800"/>
            <a:ext cx="201168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tack dot 5"/>
          <p:cNvSpPr/>
          <p:nvPr/>
        </p:nvSpPr>
        <p:spPr>
          <a:xfrm>
            <a:off x="9692640" y="21031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Stack head 5"/>
          <p:cNvSpPr txBox="1"/>
          <p:nvPr/>
        </p:nvSpPr>
        <p:spPr>
          <a:xfrm>
            <a:off x="969264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Geographical data</a:t>
            </a:r>
            <a:endParaRPr lang="en-US" sz="1800" dirty="0"/>
          </a:p>
        </p:txBody>
      </p:sp>
      <p:sp>
        <p:nvSpPr>
          <p:cNvPr id="22" name="Stack body 5"/>
          <p:cNvSpPr txBox="1"/>
          <p:nvPr/>
        </p:nvSpPr>
        <p:spPr>
          <a:xfrm>
            <a:off x="9692640" y="3474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OpenStreetMap</a:t>
            </a:r>
            <a:endParaRPr lang="en-US" sz="1600" dirty="0"/>
          </a:p>
        </p:txBody>
      </p:sp>
      <p:sp>
        <p:nvSpPr>
          <p:cNvPr id="23" name="Pages line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Pages: Home · Explorer · Simulator · Insights · About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Honest about what it shows</a:t>
            </a:r>
            <a:endParaRPr lang="en-US" sz="3400" dirty="0"/>
          </a:p>
        </p:txBody>
      </p:sp>
      <p:sp>
        <p:nvSpPr>
          <p:cNvPr id="3" name="Does card"/>
          <p:cNvSpPr/>
          <p:nvPr/>
        </p:nvSpPr>
        <p:spPr>
          <a:xfrm>
            <a:off x="640080" y="1737360"/>
            <a:ext cx="530352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es head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What it does</a:t>
            </a:r>
            <a:endParaRPr lang="en-US" sz="2200" dirty="0"/>
          </a:p>
        </p:txBody>
      </p:sp>
      <p:sp>
        <p:nvSpPr>
          <p:cNvPr id="5" name="Does list"/>
          <p:cNvSpPr txBox="1"/>
          <p:nvPr/>
        </p:nvSpPr>
        <p:spPr>
          <a:xfrm>
            <a:off x="1005840" y="26517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Maps facilities and their surroundings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Finds mapped facilities within a chosen radius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Lets users explore hypothetical disruption scenarios</a:t>
            </a:r>
            <a:endParaRPr lang="en-US" sz="1600" dirty="0"/>
          </a:p>
        </p:txBody>
      </p:sp>
      <p:sp>
        <p:nvSpPr>
          <p:cNvPr id="6" name="Limits card"/>
          <p:cNvSpPr/>
          <p:nvPr/>
        </p:nvSpPr>
        <p:spPr>
          <a:xfrm>
            <a:off x="6217920" y="1737360"/>
            <a:ext cx="5303520" cy="3383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Limits head"/>
          <p:cNvSpPr txBox="1"/>
          <p:nvPr/>
        </p:nvSpPr>
        <p:spPr>
          <a:xfrm>
            <a:off x="65836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What it does not claim</a:t>
            </a:r>
            <a:endParaRPr lang="en-US" sz="2200" dirty="0"/>
          </a:p>
        </p:txBody>
      </p:sp>
      <p:sp>
        <p:nvSpPr>
          <p:cNvPr id="8" name="Limits list"/>
          <p:cNvSpPr txBox="1"/>
          <p:nvPr/>
        </p:nvSpPr>
        <p:spPr>
          <a:xfrm>
            <a:off x="6583680" y="26517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Nearby is not a guaranteed operational substitute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Simulated impacts are not validated real-world predictions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Results depend on available OpenStreetMap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it goes next</a:t>
            </a:r>
            <a:endParaRPr lang="en-US" sz="3400" dirty="0"/>
          </a:p>
        </p:txBody>
      </p:sp>
      <p:sp>
        <p:nvSpPr>
          <p:cNvPr id="3" name="Roadmap line"/>
          <p:cNvSpPr/>
          <p:nvPr/>
        </p:nvSpPr>
        <p:spPr>
          <a:xfrm>
            <a:off x="1280160" y="2743200"/>
            <a:ext cx="96012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4" name="Roadmap node 1"/>
          <p:cNvSpPr/>
          <p:nvPr/>
        </p:nvSpPr>
        <p:spPr>
          <a:xfrm>
            <a:off x="1078992" y="254203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Roadmap head 1"/>
          <p:cNvSpPr txBox="1"/>
          <p:nvPr/>
        </p:nvSpPr>
        <p:spPr>
          <a:xfrm>
            <a:off x="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Deeper analysis</a:t>
            </a:r>
            <a:endParaRPr lang="en-US" sz="2000" dirty="0"/>
          </a:p>
        </p:txBody>
      </p:sp>
      <p:sp>
        <p:nvSpPr>
          <p:cNvPr id="6" name="Roadmap body 1"/>
          <p:cNvSpPr txBox="1"/>
          <p:nvPr/>
        </p:nvSpPr>
        <p:spPr>
          <a:xfrm>
            <a:off x="0" y="3840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Improve geographical and network analysis.</a:t>
            </a:r>
            <a:endParaRPr lang="en-US" sz="1600" dirty="0"/>
          </a:p>
        </p:txBody>
      </p:sp>
      <p:sp>
        <p:nvSpPr>
          <p:cNvPr id="7" name="Roadmap node 2"/>
          <p:cNvSpPr/>
          <p:nvPr/>
        </p:nvSpPr>
        <p:spPr>
          <a:xfrm>
            <a:off x="4279392" y="254203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Roadmap head 2"/>
          <p:cNvSpPr txBox="1"/>
          <p:nvPr/>
        </p:nvSpPr>
        <p:spPr>
          <a:xfrm>
            <a:off x="320040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Fresher data</a:t>
            </a:r>
            <a:endParaRPr lang="en-US" sz="2000" dirty="0"/>
          </a:p>
        </p:txBody>
      </p:sp>
      <p:sp>
        <p:nvSpPr>
          <p:cNvPr id="9" name="Roadmap body 2"/>
          <p:cNvSpPr txBox="1"/>
          <p:nvPr/>
        </p:nvSpPr>
        <p:spPr>
          <a:xfrm>
            <a:off x="3200400" y="3840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Integrate regularly updated facility information.</a:t>
            </a:r>
            <a:endParaRPr lang="en-US" sz="1600" dirty="0"/>
          </a:p>
        </p:txBody>
      </p:sp>
      <p:sp>
        <p:nvSpPr>
          <p:cNvPr id="10" name="Roadmap node 3"/>
          <p:cNvSpPr/>
          <p:nvPr/>
        </p:nvSpPr>
        <p:spPr>
          <a:xfrm>
            <a:off x="7479792" y="254203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Roadmap head 3"/>
          <p:cNvSpPr txBox="1"/>
          <p:nvPr/>
        </p:nvSpPr>
        <p:spPr>
          <a:xfrm>
            <a:off x="640080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Real travel times</a:t>
            </a:r>
            <a:endParaRPr lang="en-US" sz="2000" dirty="0"/>
          </a:p>
        </p:txBody>
      </p:sp>
      <p:sp>
        <p:nvSpPr>
          <p:cNvPr id="12" name="Roadmap body 3"/>
          <p:cNvSpPr txBox="1"/>
          <p:nvPr/>
        </p:nvSpPr>
        <p:spPr>
          <a:xfrm>
            <a:off x="6400800" y="3840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Include road-based distances and times.</a:t>
            </a:r>
            <a:endParaRPr lang="en-US" sz="1600" dirty="0"/>
          </a:p>
        </p:txBody>
      </p:sp>
      <p:sp>
        <p:nvSpPr>
          <p:cNvPr id="13" name="Roadmap node 4"/>
          <p:cNvSpPr/>
          <p:nvPr/>
        </p:nvSpPr>
        <p:spPr>
          <a:xfrm>
            <a:off x="10680192" y="2542032"/>
            <a:ext cx="402336" cy="40233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Roadmap head 4"/>
          <p:cNvSpPr txBox="1"/>
          <p:nvPr/>
        </p:nvSpPr>
        <p:spPr>
          <a:xfrm>
            <a:off x="960120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New domains</a:t>
            </a:r>
            <a:endParaRPr lang="en-US" sz="2000" dirty="0"/>
          </a:p>
        </p:txBody>
      </p:sp>
      <p:sp>
        <p:nvSpPr>
          <p:cNvPr id="15" name="Roadmap body 4"/>
          <p:cNvSpPr txBox="1"/>
          <p:nvPr/>
        </p:nvSpPr>
        <p:spPr>
          <a:xfrm>
            <a:off x="9601200" y="3840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Logistics, emergency services and public infrastructure.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See beyond the point of failure</a:t>
            </a:r>
            <a:endParaRPr lang="en-US" sz="6000" dirty="0"/>
          </a:p>
        </p:txBody>
      </p:sp>
      <p:sp>
        <p:nvSpPr>
          <p:cNvPr id="3" name="Closing line"/>
          <p:cNvSpPr txBox="1"/>
          <p:nvPr/>
        </p:nvSpPr>
        <p:spPr>
          <a:xfrm>
            <a:off x="731520" y="37490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5"/>
                </a:solidFill>
              </a:rPr>
              <a:t>Explore the connections that matter.</a:t>
            </a:r>
            <a:endParaRPr lang="en-US" sz="2200" dirty="0"/>
          </a:p>
        </p:txBody>
      </p:sp>
      <p:sp>
        <p:nvSpPr>
          <p:cNvPr id="4" name="Links"/>
          <p:cNvSpPr txBox="1"/>
          <p:nvPr/>
        </p:nvSpPr>
        <p:spPr>
          <a:xfrm>
            <a:off x="731520" y="45720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Live demo  </a:t>
            </a:r>
            <a:pPr indent="0" marL="0">
              <a:spcAft>
                <a:spcPts val="800"/>
              </a:spcAft>
              <a:buNone/>
            </a:pPr>
            <a:r>
              <a:rPr lang="en-US" sz="16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axioninvisiblethread-web.vercel.app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GitHub  </a:t>
            </a:r>
            <a:pPr indent="0" marL="0">
              <a:spcAft>
                <a:spcPts val="800"/>
              </a:spcAft>
              <a:buNone/>
            </a:pPr>
            <a:r>
              <a:rPr lang="en-US" sz="16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github.com/Vandana1011/Axion_Invisible_Thread</a:t>
            </a:r>
            <a:endParaRPr lang="en-US" sz="1600" dirty="0"/>
          </a:p>
        </p:txBody>
      </p:sp>
      <p:sp>
        <p:nvSpPr>
          <p:cNvPr id="5" name="Team credits"/>
          <p:cNvSpPr txBox="1"/>
          <p:nvPr/>
        </p:nvSpPr>
        <p:spPr>
          <a:xfrm>
            <a:off x="731520" y="5760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TeamPixelMind  ·  Samrin Shaik (Team Leader)  ·  Vandana Vajji</a:t>
            </a:r>
            <a:endParaRPr lang="en-US" sz="1400" dirty="0"/>
          </a:p>
        </p:txBody>
      </p:sp>
      <p:sp>
        <p:nvSpPr>
          <p:cNvPr id="6" name="Edge 0"/>
          <p:cNvSpPr/>
          <p:nvPr/>
        </p:nvSpPr>
        <p:spPr>
          <a:xfrm flipV="1">
            <a:off x="7863840" y="1737360"/>
            <a:ext cx="950976" cy="87782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Edge 1"/>
          <p:cNvSpPr/>
          <p:nvPr/>
        </p:nvSpPr>
        <p:spPr>
          <a:xfrm>
            <a:off x="8814816" y="1737360"/>
            <a:ext cx="804672" cy="117043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Edge 2"/>
          <p:cNvSpPr/>
          <p:nvPr/>
        </p:nvSpPr>
        <p:spPr>
          <a:xfrm flipV="1">
            <a:off x="9619488" y="2029968"/>
            <a:ext cx="950976" cy="87782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Edge 3"/>
          <p:cNvSpPr/>
          <p:nvPr/>
        </p:nvSpPr>
        <p:spPr>
          <a:xfrm>
            <a:off x="9619488" y="2907792"/>
            <a:ext cx="658368" cy="87782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Edge 4"/>
          <p:cNvSpPr/>
          <p:nvPr/>
        </p:nvSpPr>
        <p:spPr>
          <a:xfrm flipV="1">
            <a:off x="8961120" y="2907792"/>
            <a:ext cx="658368" cy="102412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Edge 5"/>
          <p:cNvSpPr/>
          <p:nvPr/>
        </p:nvSpPr>
        <p:spPr>
          <a:xfrm flipV="1">
            <a:off x="8010144" y="3931920"/>
            <a:ext cx="950976" cy="65836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2" name="Edge 6"/>
          <p:cNvSpPr/>
          <p:nvPr/>
        </p:nvSpPr>
        <p:spPr>
          <a:xfrm>
            <a:off x="10570464" y="2029968"/>
            <a:ext cx="804672" cy="95097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Edge 7"/>
          <p:cNvSpPr/>
          <p:nvPr/>
        </p:nvSpPr>
        <p:spPr>
          <a:xfrm flipV="1">
            <a:off x="10277856" y="2980944"/>
            <a:ext cx="1097280" cy="80467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Edge 8"/>
          <p:cNvSpPr/>
          <p:nvPr/>
        </p:nvSpPr>
        <p:spPr>
          <a:xfrm>
            <a:off x="7863840" y="2615184"/>
            <a:ext cx="1097280" cy="131673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5" name="Edge 9"/>
          <p:cNvSpPr/>
          <p:nvPr/>
        </p:nvSpPr>
        <p:spPr>
          <a:xfrm>
            <a:off x="8814816" y="1737360"/>
            <a:ext cx="1755648" cy="29260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6" name="Node 0"/>
          <p:cNvSpPr/>
          <p:nvPr/>
        </p:nvSpPr>
        <p:spPr>
          <a:xfrm>
            <a:off x="7708392" y="245973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Node 1"/>
          <p:cNvSpPr/>
          <p:nvPr/>
        </p:nvSpPr>
        <p:spPr>
          <a:xfrm>
            <a:off x="8659368" y="1581912"/>
            <a:ext cx="310896" cy="310896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Node 2"/>
          <p:cNvSpPr/>
          <p:nvPr/>
        </p:nvSpPr>
        <p:spPr>
          <a:xfrm>
            <a:off x="9363456" y="2651760"/>
            <a:ext cx="512064" cy="51206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Node 3"/>
          <p:cNvSpPr/>
          <p:nvPr/>
        </p:nvSpPr>
        <p:spPr>
          <a:xfrm>
            <a:off x="10415016" y="187452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Node 4"/>
          <p:cNvSpPr/>
          <p:nvPr/>
        </p:nvSpPr>
        <p:spPr>
          <a:xfrm>
            <a:off x="10122408" y="3630168"/>
            <a:ext cx="310896" cy="310896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1" name="Node 5"/>
          <p:cNvSpPr/>
          <p:nvPr/>
        </p:nvSpPr>
        <p:spPr>
          <a:xfrm>
            <a:off x="8805672" y="3776472"/>
            <a:ext cx="310896" cy="31089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Node 6"/>
          <p:cNvSpPr/>
          <p:nvPr/>
        </p:nvSpPr>
        <p:spPr>
          <a:xfrm>
            <a:off x="7854696" y="443484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Node 7"/>
          <p:cNvSpPr/>
          <p:nvPr/>
        </p:nvSpPr>
        <p:spPr>
          <a:xfrm>
            <a:off x="11219688" y="2825496"/>
            <a:ext cx="310896" cy="310896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Invisible Thread">
  <a:themeElements>
    <a:clrScheme name="Invisible Thread">
      <a:dk1>
        <a:srgbClr val="0B1F2A"/>
      </a:dk1>
      <a:lt1>
        <a:srgbClr val="FFFFFF"/>
      </a:lt1>
      <a:dk2>
        <a:srgbClr val="14343D"/>
      </a:dk2>
      <a:lt2>
        <a:srgbClr val="EAF4F4"/>
      </a:lt2>
      <a:accent1>
        <a:srgbClr val="0FA3A3"/>
      </a:accent1>
      <a:accent2>
        <a:srgbClr val="F2A541"/>
      </a:accent2>
      <a:accent3>
        <a:srgbClr val="E4572E"/>
      </a:accent3>
      <a:accent4>
        <a:srgbClr val="3D5A80"/>
      </a:accent4>
      <a:accent5>
        <a:srgbClr val="7FB7BE"/>
      </a:accent5>
      <a:accent6>
        <a:srgbClr val="8E9AAF"/>
      </a:accent6>
      <a:hlink>
        <a:srgbClr val="0FA3A3"/>
      </a:hlink>
      <a:folHlink>
        <a:srgbClr val="8E9AAF"/>
      </a:folHlink>
    </a:clrScheme>
    <a:fontScheme name="Invisible Threa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Invisible Thread - AXION STAMPERS Round 2</dc:title>
  <dc:subject>PptxGenJS Presentation</dc:subject>
  <dc:creator>TeamPixelMind</dc:creator>
  <cp:lastModifiedBy>TeamPixelMind</cp:lastModifiedBy>
  <cp:revision>1</cp:revision>
  <dcterms:created xsi:type="dcterms:W3CDTF">2026-10-25T17:59:26Z</dcterms:created>
  <dcterms:modified xsi:type="dcterms:W3CDTF">2026-10-25T17:59:26Z</dcterms:modified>
</cp:coreProperties>
</file>